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Syne ExtraBold"/>
      <p:bold r:id="rId10"/>
    </p:embeddedFont>
    <p:embeddedFont>
      <p:font typeface="Autour One"/>
      <p:regular r:id="rId11"/>
    </p:embeddedFont>
    <p:embeddedFont>
      <p:font typeface="Book Antiqua"/>
      <p:regular r:id="rId12"/>
      <p:bold r:id="rId13"/>
      <p:italic r:id="rId14"/>
      <p:boldItalic r:id="rId15"/>
    </p:embeddedFont>
    <p:embeddedFont>
      <p:font typeface="Syne"/>
      <p:regular r:id="rId16"/>
      <p:bold r:id="rId17"/>
    </p:embeddedFont>
    <p:embeddedFont>
      <p:font typeface="Comfortaa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AutourOne-regular.fntdata"/><Relationship Id="rId10" Type="http://schemas.openxmlformats.org/officeDocument/2006/relationships/font" Target="fonts/SyneExtraBold-bold.fntdata"/><Relationship Id="rId13" Type="http://schemas.openxmlformats.org/officeDocument/2006/relationships/font" Target="fonts/BookAntiqua-bold.fntdata"/><Relationship Id="rId12" Type="http://schemas.openxmlformats.org/officeDocument/2006/relationships/font" Target="fonts/BookAntiqua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BookAntiqua-boldItalic.fntdata"/><Relationship Id="rId14" Type="http://schemas.openxmlformats.org/officeDocument/2006/relationships/font" Target="fonts/BookAntiqua-italic.fntdata"/><Relationship Id="rId17" Type="http://schemas.openxmlformats.org/officeDocument/2006/relationships/font" Target="fonts/Syne-bold.fntdata"/><Relationship Id="rId16" Type="http://schemas.openxmlformats.org/officeDocument/2006/relationships/font" Target="fonts/Syne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Comfortaa-bold.fntdata"/><Relationship Id="rId6" Type="http://schemas.openxmlformats.org/officeDocument/2006/relationships/slide" Target="slides/slide1.xml"/><Relationship Id="rId18" Type="http://schemas.openxmlformats.org/officeDocument/2006/relationships/font" Target="fonts/Comfortaa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c4f0e3b2aa_0_5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c4f0e3b2aa_0_5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4f6791c9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4f6791c9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c4f6791c94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c4f6791c94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linkedin.com/in/varun-kumar-vakamullu-dataanalyst/" TargetMode="External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hyperlink" Target="http://0.05.we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737950"/>
            <a:ext cx="8520600" cy="68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6AA84F"/>
                </a:solidFill>
                <a:latin typeface="Syne ExtraBold"/>
                <a:ea typeface="Syne ExtraBold"/>
                <a:cs typeface="Syne ExtraBold"/>
                <a:sym typeface="Syne ExtraBold"/>
              </a:rPr>
              <a:t>HYPOTHESIS </a:t>
            </a:r>
            <a:endParaRPr sz="2400">
              <a:solidFill>
                <a:srgbClr val="6AA84F"/>
              </a:solidFill>
              <a:latin typeface="Syne ExtraBold"/>
              <a:ea typeface="Syne ExtraBold"/>
              <a:cs typeface="Syne ExtraBold"/>
              <a:sym typeface="Syne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Syne ExtraBold"/>
                <a:ea typeface="Syne ExtraBold"/>
                <a:cs typeface="Syne ExtraBold"/>
                <a:sym typeface="Syne ExtraBold"/>
              </a:rPr>
              <a:t>TESTING SUMMARY</a:t>
            </a:r>
            <a:endParaRPr sz="2400">
              <a:latin typeface="Syne ExtraBold"/>
              <a:ea typeface="Syne ExtraBold"/>
              <a:cs typeface="Syne ExtraBold"/>
              <a:sym typeface="Syne ExtraBold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3221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666666"/>
                </a:solidFill>
                <a:highlight>
                  <a:srgbClr val="000000"/>
                </a:highlight>
                <a:latin typeface="Book Antiqua"/>
                <a:ea typeface="Book Antiqua"/>
                <a:cs typeface="Book Antiqua"/>
                <a:sym typeface="Book Antiqua"/>
              </a:rPr>
              <a:t>Technology vs – Statistical Validation</a:t>
            </a:r>
            <a:endParaRPr sz="1400">
              <a:solidFill>
                <a:srgbClr val="666666"/>
              </a:solidFill>
              <a:highlight>
                <a:srgbClr val="000000"/>
              </a:highlight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666666"/>
                </a:solidFill>
                <a:highlight>
                  <a:srgbClr val="000000"/>
                </a:highlight>
                <a:latin typeface="Book Antiqua"/>
                <a:ea typeface="Book Antiqua"/>
                <a:cs typeface="Book Antiqua"/>
                <a:sym typeface="Book Antiqua"/>
              </a:rPr>
              <a:t>US Retail 2015 – 2018 | Apex Planet Solutions</a:t>
            </a:r>
            <a:endParaRPr sz="1400">
              <a:solidFill>
                <a:srgbClr val="666666"/>
              </a:solidFill>
              <a:highlight>
                <a:srgbClr val="000000"/>
              </a:highlight>
              <a:latin typeface="Book Antiqua"/>
              <a:ea typeface="Book Antiqua"/>
              <a:cs typeface="Book Antiqua"/>
              <a:sym typeface="Book Antiqua"/>
            </a:endParaRPr>
          </a:p>
        </p:txBody>
      </p:sp>
      <p:cxnSp>
        <p:nvCxnSpPr>
          <p:cNvPr id="56" name="Google Shape;56;p13"/>
          <p:cNvCxnSpPr/>
          <p:nvPr/>
        </p:nvCxnSpPr>
        <p:spPr>
          <a:xfrm flipH="1">
            <a:off x="2050" y="1810225"/>
            <a:ext cx="2951700" cy="18165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rgbClr val="6AA84F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57" name="Google Shape;57;p13"/>
          <p:cNvSpPr txBox="1"/>
          <p:nvPr/>
        </p:nvSpPr>
        <p:spPr>
          <a:xfrm>
            <a:off x="2409900" y="2784475"/>
            <a:ext cx="43242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  <a:latin typeface="Autour One"/>
                <a:ea typeface="Autour One"/>
                <a:cs typeface="Autour One"/>
                <a:sym typeface="Autour One"/>
              </a:rPr>
              <a:t>VarunKumar Vakamullu | February 2026</a:t>
            </a:r>
            <a:endParaRPr sz="1200">
              <a:solidFill>
                <a:schemeClr val="lt2"/>
              </a:solidFill>
              <a:latin typeface="Autour One"/>
              <a:ea typeface="Autour One"/>
              <a:cs typeface="Autour One"/>
              <a:sym typeface="Autour One"/>
            </a:endParaRPr>
          </a:p>
        </p:txBody>
      </p:sp>
      <p:cxnSp>
        <p:nvCxnSpPr>
          <p:cNvPr id="58" name="Google Shape;58;p13"/>
          <p:cNvCxnSpPr/>
          <p:nvPr/>
        </p:nvCxnSpPr>
        <p:spPr>
          <a:xfrm flipH="1">
            <a:off x="2125" y="2161125"/>
            <a:ext cx="2187900" cy="1645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oval"/>
          </a:ln>
        </p:spPr>
      </p:cxnSp>
      <p:pic>
        <p:nvPicPr>
          <p:cNvPr id="59" name="Google Shape;59;p13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4600" y="3059125"/>
            <a:ext cx="330300" cy="33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4" title="Screenshot 2026-03-04 1653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413" y="500350"/>
            <a:ext cx="8105775" cy="12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 title="Screenshot 2026-03-04 17144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9100" y="2320700"/>
            <a:ext cx="8006400" cy="265317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519100" y="43500"/>
            <a:ext cx="6263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3C47D"/>
                </a:solidFill>
                <a:latin typeface="Syne"/>
                <a:ea typeface="Syne"/>
                <a:cs typeface="Syne"/>
                <a:sym typeface="Syne"/>
              </a:rPr>
              <a:t>HYPOTHESIS</a:t>
            </a:r>
            <a:endParaRPr b="1" sz="1800">
              <a:solidFill>
                <a:srgbClr val="93C47D"/>
              </a:solidFill>
              <a:latin typeface="Syne"/>
              <a:ea typeface="Syne"/>
              <a:cs typeface="Syne"/>
              <a:sym typeface="Sy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2"/>
              </a:solidFill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469425" y="1832850"/>
            <a:ext cx="6263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3C47D"/>
                </a:solidFill>
                <a:latin typeface="Syne"/>
                <a:ea typeface="Syne"/>
                <a:cs typeface="Syne"/>
                <a:sym typeface="Syne"/>
              </a:rPr>
              <a:t>DESCRIPTIVE STATISTICS</a:t>
            </a:r>
            <a:endParaRPr b="1" sz="1800">
              <a:solidFill>
                <a:srgbClr val="93C47D"/>
              </a:solidFill>
              <a:latin typeface="Syne"/>
              <a:ea typeface="Syne"/>
              <a:cs typeface="Syne"/>
              <a:sym typeface="Sy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  <mc:AlternateContent>
    <mc:Choice Requires="p14">
      <p:transition spd="slow" p14:dur="3100">
        <p14:prism dir="l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5" title="Screenshot 2026-03-04 17324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500" y="609125"/>
            <a:ext cx="8123025" cy="186367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510500" y="102250"/>
            <a:ext cx="626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3C47D"/>
                </a:solidFill>
                <a:latin typeface="Syne"/>
                <a:ea typeface="Syne"/>
                <a:cs typeface="Syne"/>
                <a:sym typeface="Syne"/>
              </a:rPr>
              <a:t>TEST RESULTS</a:t>
            </a:r>
            <a:endParaRPr b="1" sz="1800">
              <a:solidFill>
                <a:srgbClr val="93C47D"/>
              </a:solidFill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412650" y="3300925"/>
            <a:ext cx="626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6AA84F"/>
                </a:solidFill>
                <a:latin typeface="Autour One"/>
                <a:ea typeface="Autour One"/>
                <a:cs typeface="Autour One"/>
                <a:sym typeface="Autour One"/>
              </a:rPr>
              <a:t>VERDICT:</a:t>
            </a:r>
            <a:endParaRPr b="1" sz="1800">
              <a:solidFill>
                <a:srgbClr val="6AA84F"/>
              </a:solidFill>
              <a:latin typeface="Autour One"/>
              <a:ea typeface="Autour One"/>
              <a:cs typeface="Autour One"/>
              <a:sym typeface="Autour One"/>
            </a:endParaRPr>
          </a:p>
        </p:txBody>
      </p:sp>
      <p:cxnSp>
        <p:nvCxnSpPr>
          <p:cNvPr id="75" name="Google Shape;75;p15"/>
          <p:cNvCxnSpPr/>
          <p:nvPr/>
        </p:nvCxnSpPr>
        <p:spPr>
          <a:xfrm>
            <a:off x="1742050" y="3321775"/>
            <a:ext cx="0" cy="4560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" name="Google Shape;76;p15"/>
          <p:cNvSpPr txBox="1"/>
          <p:nvPr/>
        </p:nvSpPr>
        <p:spPr>
          <a:xfrm>
            <a:off x="1872525" y="3162325"/>
            <a:ext cx="6263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P = 0.0002 is far below alpha = </a:t>
            </a:r>
            <a:r>
              <a:rPr lang="en" sz="1200" u="sng">
                <a:solidFill>
                  <a:schemeClr val="hlink"/>
                </a:solidFill>
                <a:hlinkClick r:id="rId4"/>
              </a:rPr>
              <a:t>0.05.</a:t>
            </a:r>
            <a:r>
              <a:rPr lang="en" sz="1200">
                <a:solidFill>
                  <a:schemeClr val="lt2"/>
                </a:solidFill>
              </a:rPr>
              <a:t> We reject the null hypothesis. The difference in average order value between Technology and Furniture is statistically significant with 99.89% confidence</a:t>
            </a:r>
            <a:endParaRPr sz="12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/>
        </p:nvSpPr>
        <p:spPr>
          <a:xfrm>
            <a:off x="130525" y="65225"/>
            <a:ext cx="224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6AA84F"/>
                </a:solidFill>
                <a:latin typeface="Autour One"/>
                <a:ea typeface="Autour One"/>
                <a:cs typeface="Autour One"/>
                <a:sym typeface="Autour One"/>
              </a:rPr>
              <a:t>Visualizations</a:t>
            </a:r>
            <a:r>
              <a:rPr b="1" lang="en" sz="1800">
                <a:solidFill>
                  <a:srgbClr val="6AA84F"/>
                </a:solidFill>
                <a:latin typeface="Autour One"/>
                <a:ea typeface="Autour One"/>
                <a:cs typeface="Autour One"/>
                <a:sym typeface="Autour One"/>
              </a:rPr>
              <a:t>:</a:t>
            </a:r>
            <a:endParaRPr b="1" sz="1800">
              <a:solidFill>
                <a:srgbClr val="6AA84F"/>
              </a:solidFill>
              <a:latin typeface="Autour One"/>
              <a:ea typeface="Autour One"/>
              <a:cs typeface="Autour One"/>
              <a:sym typeface="Autour One"/>
            </a:endParaRPr>
          </a:p>
        </p:txBody>
      </p:sp>
      <p:pic>
        <p:nvPicPr>
          <p:cNvPr id="82" name="Google Shape;82;p16" title="Screenshot 2026-03-04 18475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0226" y="526925"/>
            <a:ext cx="3095050" cy="200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 title="Screenshot 2026-03-04 18472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125" y="526925"/>
            <a:ext cx="3095050" cy="200025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 txBox="1"/>
          <p:nvPr/>
        </p:nvSpPr>
        <p:spPr>
          <a:xfrm>
            <a:off x="185000" y="262082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6AA84F"/>
                </a:solidFill>
                <a:latin typeface="Autour One"/>
                <a:ea typeface="Autour One"/>
                <a:cs typeface="Autour One"/>
                <a:sym typeface="Autour One"/>
              </a:rPr>
              <a:t>Business Interpretation</a:t>
            </a:r>
            <a:endParaRPr b="1" sz="1200">
              <a:solidFill>
                <a:srgbClr val="6AA84F"/>
              </a:solidFill>
              <a:latin typeface="Autour One"/>
              <a:ea typeface="Autour One"/>
              <a:cs typeface="Autour One"/>
              <a:sym typeface="Autour One"/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252275" y="2990125"/>
            <a:ext cx="8819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2"/>
                </a:solidFill>
                <a:latin typeface="Autour One"/>
                <a:ea typeface="Autour One"/>
                <a:cs typeface="Autour One"/>
                <a:sym typeface="Autour One"/>
              </a:rPr>
              <a:t>Technology generates $105.75 more per order than Furniture on average — proven at 99.98% confidence.</a:t>
            </a:r>
            <a:endParaRPr b="1" sz="1100">
              <a:solidFill>
                <a:schemeClr val="lt2"/>
              </a:solidFill>
              <a:latin typeface="Autour One"/>
              <a:ea typeface="Autour One"/>
              <a:cs typeface="Autour One"/>
              <a:sym typeface="Autour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2"/>
              </a:solidFill>
              <a:latin typeface="Autour One"/>
              <a:ea typeface="Autour One"/>
              <a:cs typeface="Autour One"/>
              <a:sym typeface="Autour One"/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252275" y="3392650"/>
            <a:ext cx="88191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2"/>
                </a:solidFill>
                <a:latin typeface="Autour One"/>
                <a:ea typeface="Autour One"/>
                <a:cs typeface="Autour One"/>
                <a:sym typeface="Autour One"/>
              </a:rPr>
              <a:t>The Levene test confirmed unequal variance (p=0.0002), so Welch T-Test was correctly chosen over standard</a:t>
            </a:r>
            <a:endParaRPr b="1" sz="1100">
              <a:solidFill>
                <a:schemeClr val="lt2"/>
              </a:solidFill>
              <a:latin typeface="Autour One"/>
              <a:ea typeface="Autour One"/>
              <a:cs typeface="Autour One"/>
              <a:sym typeface="Autour On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2"/>
                </a:solidFill>
                <a:latin typeface="Autour One"/>
                <a:ea typeface="Autour One"/>
                <a:cs typeface="Autour One"/>
                <a:sym typeface="Autour One"/>
              </a:rPr>
              <a:t>T-Test.</a:t>
            </a:r>
            <a:endParaRPr b="1" sz="1100">
              <a:solidFill>
                <a:schemeClr val="lt2"/>
              </a:solidFill>
              <a:latin typeface="Autour One"/>
              <a:ea typeface="Autour One"/>
              <a:cs typeface="Autour One"/>
              <a:sym typeface="Autour On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2"/>
              </a:solidFill>
              <a:latin typeface="Autour One"/>
              <a:ea typeface="Autour One"/>
              <a:cs typeface="Autour One"/>
              <a:sym typeface="Autour One"/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252275" y="3903925"/>
            <a:ext cx="88191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2"/>
                </a:solidFill>
                <a:latin typeface="Autour One"/>
                <a:ea typeface="Autour One"/>
                <a:cs typeface="Autour One"/>
                <a:sym typeface="Autour One"/>
              </a:rPr>
              <a:t>Cohen's d = 0.122 indicates a small but real effect — the difference is consistent, not a fluke.</a:t>
            </a:r>
            <a:endParaRPr b="1" sz="1100">
              <a:solidFill>
                <a:schemeClr val="lt2"/>
              </a:solidFill>
              <a:latin typeface="Autour One"/>
              <a:ea typeface="Autour One"/>
              <a:cs typeface="Autour One"/>
              <a:sym typeface="Autour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2"/>
              </a:solidFill>
              <a:latin typeface="Autour One"/>
              <a:ea typeface="Autour One"/>
              <a:cs typeface="Autour One"/>
              <a:sym typeface="Autour On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2"/>
              </a:solidFill>
              <a:latin typeface="Autour One"/>
              <a:ea typeface="Autour One"/>
              <a:cs typeface="Autour One"/>
              <a:sym typeface="Autour One"/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185000" y="4115850"/>
            <a:ext cx="8959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2"/>
                </a:solidFill>
                <a:latin typeface="Autour One"/>
                <a:ea typeface="Autour One"/>
                <a:cs typeface="Autour One"/>
                <a:sym typeface="Autour One"/>
              </a:rPr>
              <a:t> Technology leads in EVERY segment: Consumer ($401K), Corporate ($244K), Home Office ($182K).</a:t>
            </a:r>
            <a:endParaRPr b="1" sz="1100">
              <a:solidFill>
                <a:schemeClr val="lt2"/>
              </a:solidFill>
              <a:latin typeface="Autour One"/>
              <a:ea typeface="Autour One"/>
              <a:cs typeface="Autour One"/>
              <a:sym typeface="Autour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2"/>
              </a:solidFill>
              <a:latin typeface="Autour One"/>
              <a:ea typeface="Autour One"/>
              <a:cs typeface="Autour One"/>
              <a:sym typeface="Autour On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2"/>
              </a:solidFill>
              <a:latin typeface="Autour One"/>
              <a:ea typeface="Autour One"/>
              <a:cs typeface="Autour One"/>
              <a:sym typeface="Autour One"/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252275" y="4350725"/>
            <a:ext cx="89592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2"/>
                </a:solidFill>
                <a:latin typeface="Autour One"/>
                <a:ea typeface="Autour One"/>
                <a:cs typeface="Autour One"/>
                <a:sym typeface="Autour One"/>
              </a:rPr>
              <a:t>While statistically significant, the effect size is small — operational decisions should account for category volume</a:t>
            </a:r>
            <a:endParaRPr b="1" sz="1100">
              <a:solidFill>
                <a:schemeClr val="lt2"/>
              </a:solidFill>
              <a:latin typeface="Autour One"/>
              <a:ea typeface="Autour One"/>
              <a:cs typeface="Autour One"/>
              <a:sym typeface="Autour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2"/>
                </a:solidFill>
                <a:latin typeface="Autour One"/>
                <a:ea typeface="Autour One"/>
                <a:cs typeface="Autour One"/>
                <a:sym typeface="Autour One"/>
              </a:rPr>
              <a:t>differences too.</a:t>
            </a:r>
            <a:endParaRPr b="1" sz="1100">
              <a:solidFill>
                <a:schemeClr val="lt2"/>
              </a:solidFill>
              <a:latin typeface="Autour One"/>
              <a:ea typeface="Autour One"/>
              <a:cs typeface="Autour One"/>
              <a:sym typeface="Autour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2"/>
              </a:solidFill>
              <a:latin typeface="Autour One"/>
              <a:ea typeface="Autour One"/>
              <a:cs typeface="Autour One"/>
              <a:sym typeface="Autour On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2"/>
              </a:solidFill>
              <a:latin typeface="Autour One"/>
              <a:ea typeface="Autour One"/>
              <a:cs typeface="Autour One"/>
              <a:sym typeface="Autour On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