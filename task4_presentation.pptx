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572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STATISTICAL VALIDATION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6576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57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Retail Sales Intelligence  ·  Task 4  ·  ApexPlanet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011680" cy="82296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60320"/>
            <a:ext cx="2011680" cy="27432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33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560320"/>
            <a:ext cx="2011680" cy="82296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560320"/>
            <a:ext cx="2011680" cy="27432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633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$2.26M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2011680" cy="82296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560320"/>
            <a:ext cx="2011680" cy="27432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633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2018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2560320"/>
            <a:ext cx="2011680" cy="82296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560320"/>
            <a:ext cx="2011680" cy="27432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633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p=0.0002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Result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572000" cy="77724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11880"/>
            <a:ext cx="54864" cy="777240"/>
          </a:xfrm>
          <a:prstGeom prst="rect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·  ApexPlanet  ·  February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C8F564">
              <a:alpha val="15000"/>
            </a:srgbClr>
          </a:solidFill>
          <a:ln w="6350">
            <a:solidFill>
              <a:srgbClr val="C8F5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297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68680"/>
            <a:ext cx="54864" cy="1097280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41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2893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563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dataset overview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297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54864" cy="1097280"/>
          </a:xfrm>
          <a:prstGeom prst="rect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21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2569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843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growth &amp; segment insights from Tasks 1-3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297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29000"/>
            <a:ext cx="54864" cy="1097280"/>
          </a:xfrm>
          <a:prstGeom prst="rect">
            <a:avLst/>
          </a:prstGeom>
          <a:solidFill>
            <a:srgbClr val="4EF0D4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021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3849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1239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vs Furniture — statistical proof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868680"/>
            <a:ext cx="4297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868680"/>
            <a:ext cx="54864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9418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74920" y="12893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1563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arc: Problem → Analysis →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148840"/>
            <a:ext cx="4297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148840"/>
            <a:ext cx="54864" cy="1097280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221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074920" y="2569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2843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strategic actions backed by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C8F564">
              <a:alpha val="15000"/>
            </a:srgbClr>
          </a:solidFill>
          <a:ln w="6350">
            <a:solidFill>
              <a:srgbClr val="C8F5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731520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</a:t>
            </a:r>
            <a:pPr indent="0" marL="0">
              <a:buNone/>
            </a:pPr>
            <a:r>
              <a:rPr lang="en-US" sz="110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category drives the most revenue — and is the difference statistically significant?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2011680" cy="100584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Retail 2015-2018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691640"/>
            <a:ext cx="2011680" cy="100584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2194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395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 Transactions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2011680" cy="100584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2395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 Types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691640"/>
            <a:ext cx="2011680" cy="100584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21945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49440" y="2395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 Regions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Story Arc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1920240" cy="594360"/>
          </a:xfrm>
          <a:prstGeom prst="rect">
            <a:avLst/>
          </a:prstGeom>
          <a:solidFill>
            <a:srgbClr val="1A1A20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Problem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324612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423160" y="3200400"/>
            <a:ext cx="1920240" cy="594360"/>
          </a:xfrm>
          <a:prstGeom prst="rect">
            <a:avLst/>
          </a:prstGeom>
          <a:solidFill>
            <a:srgbClr val="1A1A20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43400" y="324612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0" y="3200400"/>
            <a:ext cx="1920240" cy="594360"/>
          </a:xfrm>
          <a:prstGeom prst="rect">
            <a:avLst/>
          </a:prstGeom>
          <a:solidFill>
            <a:srgbClr val="1A1A20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Findings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24612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20840" y="3200400"/>
            <a:ext cx="1920240" cy="594360"/>
          </a:xfrm>
          <a:prstGeom prst="rect">
            <a:avLst/>
          </a:prstGeom>
          <a:solidFill>
            <a:srgbClr val="1A1A2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200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9B8CFF">
              <a:alpha val="15000"/>
            </a:srgbClr>
          </a:solidFill>
          <a:ln w="6350">
            <a:solidFill>
              <a:srgbClr val="9B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Performance Snapshot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2011680" cy="36576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$722K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20.3% YoY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822960"/>
            <a:ext cx="2011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822960"/>
            <a:ext cx="2011680" cy="36576"/>
          </a:xfrm>
          <a:prstGeom prst="rect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50592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Orders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50592" y="1645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28.2% YoY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822960"/>
            <a:ext cx="2011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822960"/>
            <a:ext cx="2011680" cy="36576"/>
          </a:xfrm>
          <a:prstGeom prst="rect">
            <a:avLst/>
          </a:prstGeom>
          <a:solidFill>
            <a:srgbClr val="4EF0D4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26864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Customers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1645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8.7% YoY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822960"/>
            <a:ext cx="2011680" cy="10972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822960"/>
            <a:ext cx="201168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$827K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03136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Sales Total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03136" y="1645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Category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8595360" cy="530352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103120"/>
            <a:ext cx="54864" cy="530352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148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21945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was the best year on record across all metrics — sales, orders and customers all hit new highs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743200"/>
            <a:ext cx="8595360" cy="530352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743200"/>
            <a:ext cx="54864" cy="530352"/>
          </a:xfrm>
          <a:prstGeom prst="rect">
            <a:avLst/>
          </a:prstGeom>
          <a:solidFill>
            <a:srgbClr val="4EF0D4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788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" y="2834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is the fastest growing segment — up 51.2% in 2018 with the highest AOV at $475 per order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383280"/>
            <a:ext cx="8595360" cy="530352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383280"/>
            <a:ext cx="54864" cy="530352"/>
          </a:xfrm>
          <a:prstGeom prst="rect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4290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4672" y="34747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 at $710K. South lags at $389K — a $321K gap representing the biggest opportunity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023360"/>
            <a:ext cx="8595360" cy="530352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023360"/>
            <a:ext cx="54864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0690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04672" y="411480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declined 6.2% in 2018 despite record volumes — more orders but lower spend per transaction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C8F564">
              <a:alpha val="15000"/>
            </a:srgbClr>
          </a:solidFill>
          <a:ln w="6350">
            <a:solidFill>
              <a:srgbClr val="C8F5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Sales Trend by Category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4EF0D4">
              <a:alpha val="15000"/>
            </a:srgbClr>
          </a:solidFill>
          <a:ln w="6350">
            <a:solidFill>
              <a:srgbClr val="4EF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Setup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868680"/>
          </a:xfrm>
          <a:prstGeom prst="rect">
            <a:avLst/>
          </a:prstGeom>
          <a:solidFill>
            <a:srgbClr val="13131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73152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96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(Null Hypothesis)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statistically significant difference between Technology and Furniture average order values.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868680"/>
          </a:xfrm>
          <a:prstGeom prst="rect">
            <a:avLst/>
          </a:prstGeom>
          <a:solidFill>
            <a:srgbClr val="131317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28800"/>
            <a:ext cx="73152" cy="868680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01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(Alternative Hypothesis)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orders have a significantly HIGHER average value than Furniture orders.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206240" cy="548640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352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154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(unequal variance)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206240" cy="548640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352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(95% confidence)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38728"/>
            <a:ext cx="4206240" cy="548640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93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Two-tailed independent samples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38728"/>
            <a:ext cx="4206240" cy="548640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93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n=1,813  |  Furniture: n=2,078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4EF0D4">
              <a:alpha val="15000"/>
            </a:srgbClr>
          </a:solidFill>
          <a:ln w="6350">
            <a:solidFill>
              <a:srgbClr val="4EF0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Results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0" cy="914400"/>
          </a:xfrm>
          <a:prstGeom prst="rect">
            <a:avLst/>
          </a:prstGeom>
          <a:solidFill>
            <a:srgbClr val="131317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T-Statistic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2011680" cy="914400"/>
          </a:xfrm>
          <a:prstGeom prst="rect">
            <a:avLst/>
          </a:prstGeom>
          <a:solidFill>
            <a:srgbClr val="131317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96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822960"/>
            <a:ext cx="2011680" cy="914400"/>
          </a:xfrm>
          <a:prstGeom prst="rect">
            <a:avLst/>
          </a:prstGeom>
          <a:solidFill>
            <a:srgbClr val="131317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96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±1.96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Value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2011680" cy="914400"/>
          </a:xfrm>
          <a:prstGeom prst="rect">
            <a:avLst/>
          </a:prstGeom>
          <a:solidFill>
            <a:srgbClr val="13131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896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9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74520"/>
            <a:ext cx="5029200" cy="28346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0" y="1874520"/>
            <a:ext cx="3383280" cy="1371600"/>
          </a:xfrm>
          <a:prstGeom prst="rect">
            <a:avLst/>
          </a:prstGeom>
          <a:solidFill>
            <a:srgbClr val="131317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0" y="1874520"/>
            <a:ext cx="3383280" cy="36576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REJECT H₀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77840" y="239572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0.0002 &lt; α = 0.05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statistically significant.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0" y="3401568"/>
            <a:ext cx="3383280" cy="292608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77840" y="34472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AOV — Technology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589520" y="3447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$456.40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0" y="3730752"/>
            <a:ext cx="3383280" cy="292608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3776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AOV — Furniture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589520" y="37764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$350.65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86400" y="4059936"/>
            <a:ext cx="3383280" cy="292608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77840" y="41056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589520" y="410565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+$105.75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0" y="4389120"/>
            <a:ext cx="3383280" cy="292608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7840" y="4434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(Cohen d)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8952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(0.12)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9B8CFF">
              <a:alpha val="15000"/>
            </a:srgbClr>
          </a:solidFill>
          <a:ln w="6350">
            <a:solidFill>
              <a:srgbClr val="9B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vs Furniture — Deep Comparison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219456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63240"/>
            <a:ext cx="8595360" cy="1737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FF6B6B">
              <a:alpha val="15000"/>
            </a:srgbClr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8686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73152" cy="868680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86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170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 retail business has 4 years of sales data. Leadership needs to know: which product category is most valuable — and can we prove it statistically rather than just eyeballing charts?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8686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28800"/>
            <a:ext cx="73152" cy="868680"/>
          </a:xfrm>
          <a:prstGeom prst="rect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92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176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segmented 9,800 transactions by category, region and customer type. Technology generated $827K vs Furniture's $729K. But is that gap real or due to random variation?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8595360" cy="8686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4640"/>
            <a:ext cx="73152" cy="868680"/>
          </a:xfrm>
          <a:prstGeom prst="rect">
            <a:avLst/>
          </a:prstGeom>
          <a:solidFill>
            <a:srgbClr val="4EF0D4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98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STATISTICAL PROOF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182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Welch T-Test confirmed: T=3.72, p=0.0002. Since p &lt; 0.05, the difference is statistically significant. We can reject the null hypothesis with 99.98% confidence.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131317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40480"/>
            <a:ext cx="73152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04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BUSINESS CONCLUSION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1879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not just accidentally higher — it is structurally more valuable per transaction. Every segment (Consumer, Corporate, Home Office) shows Technology as the top category.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solidFill>
            <a:srgbClr val="C8F564">
              <a:alpha val="15000"/>
            </a:srgbClr>
          </a:solidFill>
          <a:ln w="6350">
            <a:solidFill>
              <a:srgbClr val="C8F5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987552"/>
          </a:xfrm>
          <a:prstGeom prst="rect">
            <a:avLst/>
          </a:prstGeom>
          <a:solidFill>
            <a:srgbClr val="131317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73152" cy="987552"/>
          </a:xfrm>
          <a:prstGeom prst="rect">
            <a:avLst/>
          </a:prstGeom>
          <a:solidFill>
            <a:srgbClr val="C8F564"/>
          </a:solidFill>
          <a:ln w="12700">
            <a:solidFill>
              <a:srgbClr val="C8F5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778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8778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Technology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22529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statistically proven to be the highest-value category. Prioritise stock, marketing spend and promotions in this category across all regions.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8595360" cy="987552"/>
          </a:xfrm>
          <a:prstGeom prst="rect">
            <a:avLst/>
          </a:prstGeom>
          <a:solidFill>
            <a:srgbClr val="131317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20240"/>
            <a:ext cx="73152" cy="987552"/>
          </a:xfrm>
          <a:prstGeom prst="rect">
            <a:avLst/>
          </a:prstGeom>
          <a:solidFill>
            <a:srgbClr val="4EF0D4"/>
          </a:solidFill>
          <a:ln w="12700">
            <a:solidFill>
              <a:srgbClr val="4EF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9751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F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9751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Home Office Growth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32257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grew 51.2% in 2018 with the highest AOV. Scale acquisition campaigns immediately — especially in the South region where it is most underserved.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8595360" cy="987552"/>
          </a:xfrm>
          <a:prstGeom prst="rect">
            <a:avLst/>
          </a:prstGeom>
          <a:solidFill>
            <a:srgbClr val="13131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17520"/>
            <a:ext cx="73152" cy="9875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723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07238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South Region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41985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lags $321K behind West. A focused regional push in Technology and Home Office products could close this gap and add meaningful revenue in Year 5.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384048"/>
          </a:xfrm>
          <a:prstGeom prst="rect">
            <a:avLst/>
          </a:prstGeom>
          <a:solidFill>
            <a:srgbClr val="1A1A20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000" dirty="0">
                <a:solidFill>
                  <a:srgbClr val="F2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outperforms Furniture — statistically proven (p=0.0002). Invest where the data points.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31317"/>
          </a:solidFill>
          <a:ln w="12700">
            <a:solidFill>
              <a:srgbClr val="1313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64608"/>
            <a:ext cx="9144000" cy="27432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Vakamullu  ·  ApexPlanet Internship  ·  Task 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0" y="49011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Storytelling &amp; Statistical Validation</dc:title>
  <dc:subject>PptxGenJS Presentation</dc:subject>
  <dc:creator>Varun Kumar Vakamullu</dc:creator>
  <cp:lastModifiedBy>Varun Kumar Vakamullu</cp:lastModifiedBy>
  <cp:revision>1</cp:revision>
  <dcterms:created xsi:type="dcterms:W3CDTF">2026-03-02T06:37:51Z</dcterms:created>
  <dcterms:modified xsi:type="dcterms:W3CDTF">2026-03-02T06:37:51Z</dcterms:modified>
</cp:coreProperties>
</file>